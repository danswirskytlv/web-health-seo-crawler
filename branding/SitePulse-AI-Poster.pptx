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8480" cy="15087600"/>
  <p:notesSz cx="15087600" cy="106984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8480" cy="3291840"/>
          </a:xfrm>
          <a:prstGeom prst="rect">
            <a:avLst/>
          </a:prstGeom>
          <a:solidFill>
            <a:srgbClr val="1A22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698480" cy="109728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4" name="Image 0" descr="/sessions/relaxed-peaceful-hamilton/mnt/outputs/sitepulse-icon-hi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8580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868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</a:t>
            </a:r>
            <a:pPr algn="l" indent="0" marL="0">
              <a:buNone/>
            </a:pPr>
            <a:r>
              <a:rPr lang="en-US" sz="4800" b="1" spc="-100" kern="0" dirty="0">
                <a:solidFill>
                  <a:srgbClr val="8AA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Pulse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5074920" y="1051560"/>
            <a:ext cx="7315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4"/>
          <p:cNvSpPr/>
          <p:nvPr/>
        </p:nvSpPr>
        <p:spPr>
          <a:xfrm>
            <a:off x="5074920" y="10515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14884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8AA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DIAGNOSE  ·  EXPLAIN  ·  HEAL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500" kern="0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BSc PROJECT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Science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0080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4BC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2026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Kamil Sason  ·  Dan Swirsky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2788920"/>
            <a:ext cx="10698480" cy="502920"/>
          </a:xfrm>
          <a:prstGeom prst="rect">
            <a:avLst/>
          </a:prstGeom>
          <a:solidFill>
            <a:srgbClr val="0F1638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278892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Diagnose. </a:t>
            </a:r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Explain. </a:t>
            </a:r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02920" y="374904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A5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40690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2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business owners and marketers know their websites have problems — they just don’t know which problems, why they happen, or how to fix them. Existing tools dump raw technical data and walk away.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2920" y="516636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A5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545896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pipeline that finds, classifies, and explains.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2648" y="5943600"/>
            <a:ext cx="2148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247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2648" y="5943600"/>
            <a:ext cx="2148840" cy="91440"/>
          </a:xfrm>
          <a:prstGeom prst="rect">
            <a:avLst/>
          </a:prstGeom>
          <a:solidFill>
            <a:srgbClr val="4A5BD8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" y="61081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4A5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2648" y="638251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2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CRAWLER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704088" y="67939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BFS, concurrent,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robots.txt-aware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 rot="5400000">
            <a:off x="2816352" y="6492240"/>
            <a:ext cx="164592" cy="182880"/>
          </a:xfrm>
          <a:prstGeom prst="rtTriangle">
            <a:avLst/>
          </a:prstGeom>
          <a:solidFill>
            <a:srgbClr val="4A5BD8"/>
          </a:solidFill>
          <a:ln/>
        </p:spPr>
      </p:sp>
      <p:sp>
        <p:nvSpPr>
          <p:cNvPr id="25" name="Shape 22"/>
          <p:cNvSpPr/>
          <p:nvPr/>
        </p:nvSpPr>
        <p:spPr>
          <a:xfrm>
            <a:off x="3054096" y="5943600"/>
            <a:ext cx="2148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247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054096" y="5943600"/>
            <a:ext cx="2148840" cy="91440"/>
          </a:xfrm>
          <a:prstGeom prst="rect">
            <a:avLst/>
          </a:prstGeom>
          <a:solidFill>
            <a:srgbClr val="2C3E8C"/>
          </a:solidFill>
          <a:ln/>
        </p:spPr>
      </p:sp>
      <p:sp>
        <p:nvSpPr>
          <p:cNvPr id="27" name="Text 24"/>
          <p:cNvSpPr/>
          <p:nvPr/>
        </p:nvSpPr>
        <p:spPr>
          <a:xfrm>
            <a:off x="3054096" y="61081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C3E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054096" y="638251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2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ANALYZER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3145536" y="67939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Rule-based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SEO checks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 rot="5400000">
            <a:off x="5257800" y="6492240"/>
            <a:ext cx="164592" cy="182880"/>
          </a:xfrm>
          <a:prstGeom prst="rtTriangle">
            <a:avLst/>
          </a:prstGeom>
          <a:solidFill>
            <a:srgbClr val="4A5BD8"/>
          </a:solidFill>
          <a:ln/>
        </p:spPr>
      </p:sp>
      <p:sp>
        <p:nvSpPr>
          <p:cNvPr id="31" name="Shape 28"/>
          <p:cNvSpPr/>
          <p:nvPr/>
        </p:nvSpPr>
        <p:spPr>
          <a:xfrm>
            <a:off x="5495544" y="5943600"/>
            <a:ext cx="2148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247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495544" y="5943600"/>
            <a:ext cx="2148840" cy="914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3" name="Text 30"/>
          <p:cNvSpPr/>
          <p:nvPr/>
        </p:nvSpPr>
        <p:spPr>
          <a:xfrm>
            <a:off x="5495544" y="61081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495544" y="638251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2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900" dirty="0"/>
          </a:p>
        </p:txBody>
      </p:sp>
      <p:sp>
        <p:nvSpPr>
          <p:cNvPr id="35" name="Text 32"/>
          <p:cNvSpPr/>
          <p:nvPr/>
        </p:nvSpPr>
        <p:spPr>
          <a:xfrm>
            <a:off x="5586984" y="67939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explains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suggests fixes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 rot="5400000">
            <a:off x="7699248" y="6492240"/>
            <a:ext cx="164592" cy="182880"/>
          </a:xfrm>
          <a:prstGeom prst="rtTriangle">
            <a:avLst/>
          </a:prstGeom>
          <a:solidFill>
            <a:srgbClr val="4A5BD8"/>
          </a:solidFill>
          <a:ln/>
        </p:spPr>
      </p:sp>
      <p:sp>
        <p:nvSpPr>
          <p:cNvPr id="37" name="Shape 34"/>
          <p:cNvSpPr/>
          <p:nvPr/>
        </p:nvSpPr>
        <p:spPr>
          <a:xfrm>
            <a:off x="7936992" y="5943600"/>
            <a:ext cx="2148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247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936992" y="5943600"/>
            <a:ext cx="2148840" cy="914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9" name="Text 36"/>
          <p:cNvSpPr/>
          <p:nvPr/>
        </p:nvSpPr>
        <p:spPr>
          <a:xfrm>
            <a:off x="7936992" y="61081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74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7936992" y="638251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2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</a:t>
            </a:r>
            <a:endParaRPr lang="en-US" sz="1900" dirty="0"/>
          </a:p>
        </p:txBody>
      </p:sp>
      <p:sp>
        <p:nvSpPr>
          <p:cNvPr id="41" name="Text 38"/>
          <p:cNvSpPr/>
          <p:nvPr/>
        </p:nvSpPr>
        <p:spPr>
          <a:xfrm>
            <a:off x="8028432" y="67939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/ PDF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02920" y="77266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A5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CAPABILITIES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02920" y="8092440"/>
            <a:ext cx="22174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47">
                <a:alpha val="7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1337310" y="8257032"/>
            <a:ext cx="548640" cy="548640"/>
          </a:xfrm>
          <a:prstGeom prst="ellipse">
            <a:avLst/>
          </a:prstGeom>
          <a:solidFill>
            <a:srgbClr val="4A5BD8"/>
          </a:solidFill>
          <a:ln/>
        </p:spPr>
      </p:sp>
      <p:sp>
        <p:nvSpPr>
          <p:cNvPr id="45" name="Text 42"/>
          <p:cNvSpPr/>
          <p:nvPr/>
        </p:nvSpPr>
        <p:spPr>
          <a:xfrm>
            <a:off x="1337310" y="8257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2400" dirty="0"/>
          </a:p>
        </p:txBody>
      </p:sp>
      <p:sp>
        <p:nvSpPr>
          <p:cNvPr id="46" name="Text 43"/>
          <p:cNvSpPr/>
          <p:nvPr/>
        </p:nvSpPr>
        <p:spPr>
          <a:xfrm>
            <a:off x="576072" y="8869680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Multi-category audits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594360" y="9144000"/>
            <a:ext cx="203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SEO, Accessibility,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Performance, Security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2994660" y="8092440"/>
            <a:ext cx="22174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47">
                <a:alpha val="7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3829050" y="8257032"/>
            <a:ext cx="548640" cy="548640"/>
          </a:xfrm>
          <a:prstGeom prst="ellipse">
            <a:avLst/>
          </a:prstGeom>
          <a:solidFill>
            <a:srgbClr val="2C3E8C"/>
          </a:solidFill>
          <a:ln/>
        </p:spPr>
      </p:sp>
      <p:sp>
        <p:nvSpPr>
          <p:cNvPr id="50" name="Text 47"/>
          <p:cNvSpPr/>
          <p:nvPr/>
        </p:nvSpPr>
        <p:spPr>
          <a:xfrm>
            <a:off x="3829050" y="8257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</a:t>
            </a:r>
            <a:endParaRPr lang="en-US" sz="2400" dirty="0"/>
          </a:p>
        </p:txBody>
      </p:sp>
      <p:sp>
        <p:nvSpPr>
          <p:cNvPr id="51" name="Text 48"/>
          <p:cNvSpPr/>
          <p:nvPr/>
        </p:nvSpPr>
        <p:spPr>
          <a:xfrm>
            <a:off x="3067812" y="8869680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 &amp; trends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3086100" y="9144000"/>
            <a:ext cx="203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your site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time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5486400" y="8092440"/>
            <a:ext cx="22174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47">
                <a:alpha val="7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6320790" y="8257032"/>
            <a:ext cx="548640" cy="5486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5" name="Text 52"/>
          <p:cNvSpPr/>
          <p:nvPr/>
        </p:nvSpPr>
        <p:spPr>
          <a:xfrm>
            <a:off x="6320790" y="8257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800" dirty="0"/>
          </a:p>
        </p:txBody>
      </p:sp>
      <p:sp>
        <p:nvSpPr>
          <p:cNvPr id="56" name="Text 53"/>
          <p:cNvSpPr/>
          <p:nvPr/>
        </p:nvSpPr>
        <p:spPr>
          <a:xfrm>
            <a:off x="5559552" y="8869680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insights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5577840" y="9144000"/>
            <a:ext cx="203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cause analysis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plain-language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explanations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7978140" y="8092440"/>
            <a:ext cx="22174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47">
                <a:alpha val="7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8812530" y="8257032"/>
            <a:ext cx="548640" cy="5486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60" name="Text 57"/>
          <p:cNvSpPr/>
          <p:nvPr/>
        </p:nvSpPr>
        <p:spPr>
          <a:xfrm>
            <a:off x="8812530" y="8257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</a:t>
            </a:r>
            <a:endParaRPr lang="en-US" sz="2400" dirty="0"/>
          </a:p>
        </p:txBody>
      </p:sp>
      <p:sp>
        <p:nvSpPr>
          <p:cNvPr id="61" name="Text 58"/>
          <p:cNvSpPr/>
          <p:nvPr/>
        </p:nvSpPr>
        <p:spPr>
          <a:xfrm>
            <a:off x="8051292" y="8869680"/>
            <a:ext cx="2071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 AI</a:t>
            </a:r>
            <a:endParaRPr lang="en-US" sz="1300" dirty="0"/>
          </a:p>
        </p:txBody>
      </p:sp>
      <p:sp>
        <p:nvSpPr>
          <p:cNvPr id="62" name="Text 59"/>
          <p:cNvSpPr/>
          <p:nvPr/>
        </p:nvSpPr>
        <p:spPr>
          <a:xfrm>
            <a:off x="8069580" y="9144000"/>
            <a:ext cx="203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Auto-generates alt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from images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502920" y="1014984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A5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502920" y="104424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Separation of concerns: detection is rule-based and deterministic. The AI only explains.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502920" y="10927080"/>
            <a:ext cx="1755648" cy="1417320"/>
          </a:xfrm>
          <a:prstGeom prst="rect">
            <a:avLst/>
          </a:prstGeom>
          <a:solidFill>
            <a:srgbClr val="1A2247"/>
          </a:solidFill>
          <a:ln/>
        </p:spPr>
      </p:sp>
      <p:sp>
        <p:nvSpPr>
          <p:cNvPr id="66" name="Text 63"/>
          <p:cNvSpPr/>
          <p:nvPr/>
        </p:nvSpPr>
        <p:spPr>
          <a:xfrm>
            <a:off x="502920" y="1110996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crawler/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868680" y="11585448"/>
            <a:ext cx="1024128" cy="0"/>
          </a:xfrm>
          <a:prstGeom prst="line">
            <a:avLst/>
          </a:prstGeom>
          <a:noFill/>
          <a:ln w="12700">
            <a:solidFill>
              <a:srgbClr val="4A5BD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94360" y="1167688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BFS site crawler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concurrency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2487168" y="10927080"/>
            <a:ext cx="1755648" cy="1417320"/>
          </a:xfrm>
          <a:prstGeom prst="rect">
            <a:avLst/>
          </a:prstGeom>
          <a:solidFill>
            <a:srgbClr val="1A2247"/>
          </a:solidFill>
          <a:ln/>
        </p:spPr>
      </p:sp>
      <p:sp>
        <p:nvSpPr>
          <p:cNvPr id="70" name="Text 67"/>
          <p:cNvSpPr/>
          <p:nvPr/>
        </p:nvSpPr>
        <p:spPr>
          <a:xfrm>
            <a:off x="2487168" y="1110996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analyzer/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2852928" y="11585448"/>
            <a:ext cx="1024128" cy="0"/>
          </a:xfrm>
          <a:prstGeom prst="line">
            <a:avLst/>
          </a:prstGeom>
          <a:noFill/>
          <a:ln w="12700">
            <a:solidFill>
              <a:srgbClr val="4A5BD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2578608" y="1167688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rule-based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 + scoring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4471416" y="10927080"/>
            <a:ext cx="1755648" cy="1417320"/>
          </a:xfrm>
          <a:prstGeom prst="rect">
            <a:avLst/>
          </a:prstGeom>
          <a:solidFill>
            <a:srgbClr val="1A2247"/>
          </a:solidFill>
          <a:ln/>
        </p:spPr>
      </p:sp>
      <p:sp>
        <p:nvSpPr>
          <p:cNvPr id="74" name="Text 71"/>
          <p:cNvSpPr/>
          <p:nvPr/>
        </p:nvSpPr>
        <p:spPr>
          <a:xfrm>
            <a:off x="4471416" y="1110996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ai/</a:t>
            </a:r>
            <a:endParaRPr lang="en-US" sz="1600" dirty="0"/>
          </a:p>
        </p:txBody>
      </p:sp>
      <p:sp>
        <p:nvSpPr>
          <p:cNvPr id="75" name="Shape 72"/>
          <p:cNvSpPr/>
          <p:nvPr/>
        </p:nvSpPr>
        <p:spPr>
          <a:xfrm>
            <a:off x="4837176" y="11585448"/>
            <a:ext cx="1024128" cy="0"/>
          </a:xfrm>
          <a:prstGeom prst="line">
            <a:avLst/>
          </a:prstGeom>
          <a:noFill/>
          <a:ln w="12700">
            <a:solidFill>
              <a:srgbClr val="4A5BD8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4562856" y="1167688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integration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fallback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6455664" y="10927080"/>
            <a:ext cx="1755648" cy="1417320"/>
          </a:xfrm>
          <a:prstGeom prst="rect">
            <a:avLst/>
          </a:prstGeom>
          <a:solidFill>
            <a:srgbClr val="1A2247"/>
          </a:solidFill>
          <a:ln/>
        </p:spPr>
      </p:sp>
      <p:sp>
        <p:nvSpPr>
          <p:cNvPr id="78" name="Text 75"/>
          <p:cNvSpPr/>
          <p:nvPr/>
        </p:nvSpPr>
        <p:spPr>
          <a:xfrm>
            <a:off x="6455664" y="1110996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</a:t>
            </a:r>
            <a:endParaRPr lang="en-US" sz="1600" dirty="0"/>
          </a:p>
        </p:txBody>
      </p:sp>
      <p:sp>
        <p:nvSpPr>
          <p:cNvPr id="79" name="Shape 76"/>
          <p:cNvSpPr/>
          <p:nvPr/>
        </p:nvSpPr>
        <p:spPr>
          <a:xfrm>
            <a:off x="6821424" y="11585448"/>
            <a:ext cx="1024128" cy="0"/>
          </a:xfrm>
          <a:prstGeom prst="line">
            <a:avLst/>
          </a:prstGeom>
          <a:noFill/>
          <a:ln w="12700">
            <a:solidFill>
              <a:srgbClr val="4A5BD8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6547104" y="1167688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+ PDF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</a:t>
            </a:r>
            <a:endParaRPr lang="en-US" sz="1100" dirty="0"/>
          </a:p>
        </p:txBody>
      </p:sp>
      <p:sp>
        <p:nvSpPr>
          <p:cNvPr id="81" name="Shape 78"/>
          <p:cNvSpPr/>
          <p:nvPr/>
        </p:nvSpPr>
        <p:spPr>
          <a:xfrm>
            <a:off x="8439912" y="10927080"/>
            <a:ext cx="1755648" cy="1417320"/>
          </a:xfrm>
          <a:prstGeom prst="rect">
            <a:avLst/>
          </a:prstGeom>
          <a:solidFill>
            <a:srgbClr val="1A2247"/>
          </a:solidFill>
          <a:ln/>
        </p:spPr>
      </p:sp>
      <p:sp>
        <p:nvSpPr>
          <p:cNvPr id="82" name="Text 79"/>
          <p:cNvSpPr/>
          <p:nvPr/>
        </p:nvSpPr>
        <p:spPr>
          <a:xfrm>
            <a:off x="8439912" y="1110996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</a:t>
            </a:r>
            <a:endParaRPr lang="en-US" sz="1600" dirty="0"/>
          </a:p>
        </p:txBody>
      </p:sp>
      <p:sp>
        <p:nvSpPr>
          <p:cNvPr id="83" name="Shape 80"/>
          <p:cNvSpPr/>
          <p:nvPr/>
        </p:nvSpPr>
        <p:spPr>
          <a:xfrm>
            <a:off x="8805672" y="11585448"/>
            <a:ext cx="1024128" cy="0"/>
          </a:xfrm>
          <a:prstGeom prst="line">
            <a:avLst/>
          </a:prstGeom>
          <a:noFill/>
          <a:ln w="12700">
            <a:solidFill>
              <a:srgbClr val="4A5BD8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8531352" y="1167688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Typed shared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dataclasses</a:t>
            </a:r>
            <a:endParaRPr lang="en-US" sz="1100" dirty="0"/>
          </a:p>
        </p:txBody>
      </p:sp>
      <p:sp>
        <p:nvSpPr>
          <p:cNvPr id="85" name="Text 82"/>
          <p:cNvSpPr/>
          <p:nvPr/>
        </p:nvSpPr>
        <p:spPr>
          <a:xfrm>
            <a:off x="502920" y="1271016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A5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NUMBERS</a:t>
            </a:r>
            <a:endParaRPr lang="en-US" sz="1100" dirty="0"/>
          </a:p>
        </p:txBody>
      </p:sp>
      <p:sp>
        <p:nvSpPr>
          <p:cNvPr id="86" name="Shape 83"/>
          <p:cNvSpPr/>
          <p:nvPr/>
        </p:nvSpPr>
        <p:spPr>
          <a:xfrm>
            <a:off x="502920" y="13030200"/>
            <a:ext cx="225171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47">
                <a:alpha val="7000"/>
              </a:srgbClr>
            </a:outerShdw>
          </a:effectLst>
        </p:spPr>
      </p:sp>
      <p:sp>
        <p:nvSpPr>
          <p:cNvPr id="87" name="Shape 84"/>
          <p:cNvSpPr/>
          <p:nvPr/>
        </p:nvSpPr>
        <p:spPr>
          <a:xfrm>
            <a:off x="502920" y="13030200"/>
            <a:ext cx="109728" cy="1051560"/>
          </a:xfrm>
          <a:prstGeom prst="rect">
            <a:avLst/>
          </a:prstGeom>
          <a:solidFill>
            <a:srgbClr val="4A5BD8"/>
          </a:solidFill>
          <a:ln/>
        </p:spPr>
      </p:sp>
      <p:sp>
        <p:nvSpPr>
          <p:cNvPr id="88" name="Text 85"/>
          <p:cNvSpPr/>
          <p:nvPr/>
        </p:nvSpPr>
        <p:spPr>
          <a:xfrm>
            <a:off x="685800" y="13103352"/>
            <a:ext cx="193167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5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100+</a:t>
            </a:r>
            <a:endParaRPr lang="en-US" sz="3400" dirty="0"/>
          </a:p>
        </p:txBody>
      </p:sp>
      <p:sp>
        <p:nvSpPr>
          <p:cNvPr id="89" name="Text 86"/>
          <p:cNvSpPr/>
          <p:nvPr/>
        </p:nvSpPr>
        <p:spPr>
          <a:xfrm>
            <a:off x="640080" y="13688568"/>
            <a:ext cx="19773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tests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(pytest)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2983230" y="13030200"/>
            <a:ext cx="225171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47">
                <a:alpha val="7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2983230" y="13030200"/>
            <a:ext cx="109728" cy="10515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2" name="Text 89"/>
          <p:cNvSpPr/>
          <p:nvPr/>
        </p:nvSpPr>
        <p:spPr>
          <a:xfrm>
            <a:off x="3166110" y="13103352"/>
            <a:ext cx="193167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3400" dirty="0"/>
          </a:p>
        </p:txBody>
      </p:sp>
      <p:sp>
        <p:nvSpPr>
          <p:cNvPr id="93" name="Text 90"/>
          <p:cNvSpPr/>
          <p:nvPr/>
        </p:nvSpPr>
        <p:spPr>
          <a:xfrm>
            <a:off x="3120390" y="13688568"/>
            <a:ext cx="19773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5463540" y="13030200"/>
            <a:ext cx="225171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47">
                <a:alpha val="7000"/>
              </a:srgbClr>
            </a:outerShdw>
          </a:effectLst>
        </p:spPr>
      </p:sp>
      <p:sp>
        <p:nvSpPr>
          <p:cNvPr id="95" name="Shape 92"/>
          <p:cNvSpPr/>
          <p:nvPr/>
        </p:nvSpPr>
        <p:spPr>
          <a:xfrm>
            <a:off x="5463540" y="13030200"/>
            <a:ext cx="109728" cy="10515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6" name="Text 93"/>
          <p:cNvSpPr/>
          <p:nvPr/>
        </p:nvSpPr>
        <p:spPr>
          <a:xfrm>
            <a:off x="5646420" y="13103352"/>
            <a:ext cx="193167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39C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3.2K</a:t>
            </a:r>
            <a:endParaRPr lang="en-US" sz="3400" dirty="0"/>
          </a:p>
        </p:txBody>
      </p:sp>
      <p:sp>
        <p:nvSpPr>
          <p:cNvPr id="97" name="Text 94"/>
          <p:cNvSpPr/>
          <p:nvPr/>
        </p:nvSpPr>
        <p:spPr>
          <a:xfrm>
            <a:off x="5600700" y="13688568"/>
            <a:ext cx="19773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Lines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code</a:t>
            </a:r>
            <a:endParaRPr lang="en-US" sz="1000" dirty="0"/>
          </a:p>
        </p:txBody>
      </p:sp>
      <p:sp>
        <p:nvSpPr>
          <p:cNvPr id="98" name="Shape 95"/>
          <p:cNvSpPr/>
          <p:nvPr/>
        </p:nvSpPr>
        <p:spPr>
          <a:xfrm>
            <a:off x="7943850" y="13030200"/>
            <a:ext cx="225171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247">
                <a:alpha val="7000"/>
              </a:srgbClr>
            </a:outerShdw>
          </a:effectLst>
        </p:spPr>
      </p:sp>
      <p:sp>
        <p:nvSpPr>
          <p:cNvPr id="99" name="Shape 96"/>
          <p:cNvSpPr/>
          <p:nvPr/>
        </p:nvSpPr>
        <p:spPr>
          <a:xfrm>
            <a:off x="7943850" y="13030200"/>
            <a:ext cx="109728" cy="10515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0" name="Text 97"/>
          <p:cNvSpPr/>
          <p:nvPr/>
        </p:nvSpPr>
        <p:spPr>
          <a:xfrm>
            <a:off x="8126730" y="13103352"/>
            <a:ext cx="193167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4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3400" dirty="0"/>
          </a:p>
        </p:txBody>
      </p:sp>
      <p:sp>
        <p:nvSpPr>
          <p:cNvPr id="101" name="Text 98"/>
          <p:cNvSpPr/>
          <p:nvPr/>
        </p:nvSpPr>
        <p:spPr>
          <a:xfrm>
            <a:off x="8081010" y="13688568"/>
            <a:ext cx="19773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02" name="Text 99"/>
          <p:cNvSpPr/>
          <p:nvPr/>
        </p:nvSpPr>
        <p:spPr>
          <a:xfrm>
            <a:off x="502920" y="1431036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A5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</a:t>
            </a:r>
            <a:endParaRPr lang="en-US" sz="1100" dirty="0"/>
          </a:p>
        </p:txBody>
      </p:sp>
      <p:sp>
        <p:nvSpPr>
          <p:cNvPr id="103" name="Shape 100"/>
          <p:cNvSpPr/>
          <p:nvPr/>
        </p:nvSpPr>
        <p:spPr>
          <a:xfrm>
            <a:off x="644652" y="14584680"/>
            <a:ext cx="1234440" cy="411480"/>
          </a:xfrm>
          <a:prstGeom prst="rect">
            <a:avLst/>
          </a:prstGeom>
          <a:solidFill>
            <a:srgbClr val="1A2247"/>
          </a:solidFill>
          <a:ln/>
        </p:spPr>
      </p:sp>
      <p:sp>
        <p:nvSpPr>
          <p:cNvPr id="104" name="Text 101"/>
          <p:cNvSpPr/>
          <p:nvPr/>
        </p:nvSpPr>
        <p:spPr>
          <a:xfrm>
            <a:off x="644652" y="145846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3.12</a:t>
            </a:r>
            <a:endParaRPr lang="en-US" sz="1000" dirty="0"/>
          </a:p>
        </p:txBody>
      </p:sp>
      <p:sp>
        <p:nvSpPr>
          <p:cNvPr id="105" name="Shape 102"/>
          <p:cNvSpPr/>
          <p:nvPr/>
        </p:nvSpPr>
        <p:spPr>
          <a:xfrm>
            <a:off x="2007108" y="14584680"/>
            <a:ext cx="1234440" cy="411480"/>
          </a:xfrm>
          <a:prstGeom prst="rect">
            <a:avLst/>
          </a:prstGeom>
          <a:solidFill>
            <a:srgbClr val="1A2247"/>
          </a:solidFill>
          <a:ln/>
        </p:spPr>
      </p:sp>
      <p:sp>
        <p:nvSpPr>
          <p:cNvPr id="106" name="Text 103"/>
          <p:cNvSpPr/>
          <p:nvPr/>
        </p:nvSpPr>
        <p:spPr>
          <a:xfrm>
            <a:off x="2007108" y="145846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07" name="Shape 104"/>
          <p:cNvSpPr/>
          <p:nvPr/>
        </p:nvSpPr>
        <p:spPr>
          <a:xfrm>
            <a:off x="3369564" y="14584680"/>
            <a:ext cx="1234440" cy="411480"/>
          </a:xfrm>
          <a:prstGeom prst="rect">
            <a:avLst/>
          </a:prstGeom>
          <a:solidFill>
            <a:srgbClr val="1A2247"/>
          </a:solidFill>
          <a:ln/>
        </p:spPr>
      </p:sp>
      <p:sp>
        <p:nvSpPr>
          <p:cNvPr id="108" name="Text 105"/>
          <p:cNvSpPr/>
          <p:nvPr/>
        </p:nvSpPr>
        <p:spPr>
          <a:xfrm>
            <a:off x="3369564" y="145846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BeautifulSoup4</a:t>
            </a:r>
            <a:endParaRPr lang="en-US" sz="1000" dirty="0"/>
          </a:p>
        </p:txBody>
      </p:sp>
      <p:sp>
        <p:nvSpPr>
          <p:cNvPr id="109" name="Shape 106"/>
          <p:cNvSpPr/>
          <p:nvPr/>
        </p:nvSpPr>
        <p:spPr>
          <a:xfrm>
            <a:off x="4732020" y="14584680"/>
            <a:ext cx="1234440" cy="411480"/>
          </a:xfrm>
          <a:prstGeom prst="rect">
            <a:avLst/>
          </a:prstGeom>
          <a:solidFill>
            <a:srgbClr val="1A2247"/>
          </a:solidFill>
          <a:ln/>
        </p:spPr>
      </p:sp>
      <p:sp>
        <p:nvSpPr>
          <p:cNvPr id="110" name="Text 107"/>
          <p:cNvSpPr/>
          <p:nvPr/>
        </p:nvSpPr>
        <p:spPr>
          <a:xfrm>
            <a:off x="4732020" y="145846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Gemini</a:t>
            </a:r>
            <a:endParaRPr lang="en-US" sz="1000" dirty="0"/>
          </a:p>
        </p:txBody>
      </p:sp>
      <p:sp>
        <p:nvSpPr>
          <p:cNvPr id="111" name="Shape 108"/>
          <p:cNvSpPr/>
          <p:nvPr/>
        </p:nvSpPr>
        <p:spPr>
          <a:xfrm>
            <a:off x="6094476" y="14584680"/>
            <a:ext cx="1234440" cy="411480"/>
          </a:xfrm>
          <a:prstGeom prst="rect">
            <a:avLst/>
          </a:prstGeom>
          <a:solidFill>
            <a:srgbClr val="1A2247"/>
          </a:solidFill>
          <a:ln/>
        </p:spPr>
      </p:sp>
      <p:sp>
        <p:nvSpPr>
          <p:cNvPr id="112" name="Text 109"/>
          <p:cNvSpPr/>
          <p:nvPr/>
        </p:nvSpPr>
        <p:spPr>
          <a:xfrm>
            <a:off x="6094476" y="145846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</a:t>
            </a:r>
            <a:endParaRPr lang="en-US" sz="1000" dirty="0"/>
          </a:p>
        </p:txBody>
      </p:sp>
      <p:sp>
        <p:nvSpPr>
          <p:cNvPr id="113" name="Shape 110"/>
          <p:cNvSpPr/>
          <p:nvPr/>
        </p:nvSpPr>
        <p:spPr>
          <a:xfrm>
            <a:off x="7456932" y="14584680"/>
            <a:ext cx="1234440" cy="411480"/>
          </a:xfrm>
          <a:prstGeom prst="rect">
            <a:avLst/>
          </a:prstGeom>
          <a:solidFill>
            <a:srgbClr val="1A2247"/>
          </a:solidFill>
          <a:ln/>
        </p:spPr>
      </p:sp>
      <p:sp>
        <p:nvSpPr>
          <p:cNvPr id="114" name="Text 111"/>
          <p:cNvSpPr/>
          <p:nvPr/>
        </p:nvSpPr>
        <p:spPr>
          <a:xfrm>
            <a:off x="7456932" y="145846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ReportLab</a:t>
            </a:r>
            <a:endParaRPr lang="en-US" sz="1000" dirty="0"/>
          </a:p>
        </p:txBody>
      </p:sp>
      <p:sp>
        <p:nvSpPr>
          <p:cNvPr id="115" name="Shape 112"/>
          <p:cNvSpPr/>
          <p:nvPr/>
        </p:nvSpPr>
        <p:spPr>
          <a:xfrm>
            <a:off x="8819388" y="14584680"/>
            <a:ext cx="1234440" cy="411480"/>
          </a:xfrm>
          <a:prstGeom prst="rect">
            <a:avLst/>
          </a:prstGeom>
          <a:solidFill>
            <a:srgbClr val="1A2247"/>
          </a:solidFill>
          <a:ln/>
        </p:spPr>
      </p:sp>
      <p:sp>
        <p:nvSpPr>
          <p:cNvPr id="116" name="Text 113"/>
          <p:cNvSpPr/>
          <p:nvPr/>
        </p:nvSpPr>
        <p:spPr>
          <a:xfrm>
            <a:off x="8819388" y="145846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pytest</a:t>
            </a:r>
            <a:endParaRPr lang="en-US" sz="1000" dirty="0"/>
          </a:p>
        </p:txBody>
      </p:sp>
      <p:sp>
        <p:nvSpPr>
          <p:cNvPr id="117" name="Shape 114"/>
          <p:cNvSpPr/>
          <p:nvPr/>
        </p:nvSpPr>
        <p:spPr>
          <a:xfrm>
            <a:off x="502920" y="14630400"/>
            <a:ext cx="9692640" cy="0"/>
          </a:xfrm>
          <a:prstGeom prst="line">
            <a:avLst/>
          </a:prstGeom>
          <a:noFill/>
          <a:ln w="12700">
            <a:solidFill>
              <a:srgbClr val="E4E7F0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502920" y="14676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github.com/danswirskytlv/web-health-seo-crawler</a:t>
            </a:r>
            <a:endParaRPr lang="en-US" sz="1000" dirty="0"/>
          </a:p>
        </p:txBody>
      </p:sp>
      <p:sp>
        <p:nvSpPr>
          <p:cNvPr id="119" name="Text 116"/>
          <p:cNvSpPr/>
          <p:nvPr/>
        </p:nvSpPr>
        <p:spPr>
          <a:xfrm>
            <a:off x="5349240" y="14676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Kamil Sason  ·  Dan Swirsky  · 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BSc Final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SitePulse AI — Academic Poster</dc:title>
  <dc:subject>Web Health Diagnostic Platform</dc:subject>
  <dc:creator>Kamil Sason &amp; Dan Swirsky</dc:creator>
  <cp:lastModifiedBy>Kamil Sason &amp; Dan Swirsky</cp:lastModifiedBy>
  <cp:revision>1</cp:revision>
  <dcterms:created xsi:type="dcterms:W3CDTF">2026-06-04T12:00:10Z</dcterms:created>
  <dcterms:modified xsi:type="dcterms:W3CDTF">2026-06-04T12:00:10Z</dcterms:modified>
</cp:coreProperties>
</file>