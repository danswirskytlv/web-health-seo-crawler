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4"/>
  </p:sldMasterIdLst>
  <p:sldIdLst>
    <p:sldId id="313" r:id="rId5"/>
  </p:sldIdLst>
  <p:sldSz cx="42479913" cy="30600650"/>
  <p:notesSz cx="6797675" cy="9872663"/>
  <p:defaultTextStyle>
    <a:defPPr>
      <a:defRPr lang="he-IL"/>
    </a:defPPr>
    <a:lvl1pPr marL="0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C183F-0B9A-9D82-CB1E-1EA3937DA774}" name="Nir Elenberg" initials="NE" userId="S::nir@afeka.ac.il::377cad1b-e1cf-45bd-8b54-665ab14512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67D"/>
    <a:srgbClr val="FFFFFF"/>
    <a:srgbClr val="00381F"/>
    <a:srgbClr val="12B26A"/>
    <a:srgbClr val="F0F0F0"/>
    <a:srgbClr val="73BF43"/>
    <a:srgbClr val="8BC43D"/>
    <a:srgbClr val="6E2B8F"/>
    <a:srgbClr val="E57121"/>
    <a:srgbClr val="00A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8B3F-AC08-492A-AFAB-98154B6FE109}" v="3" dt="2026-03-24T17:43:11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673" autoAdjust="0"/>
    <p:restoredTop sz="94660"/>
  </p:normalViewPr>
  <p:slideViewPr>
    <p:cSldViewPr snapToGrid="0">
      <p:cViewPr>
        <p:scale>
          <a:sx n="40" d="100"/>
          <a:sy n="40" d="100"/>
        </p:scale>
        <p:origin x="-4368" y="-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5994" y="5008025"/>
            <a:ext cx="36107926" cy="10653560"/>
          </a:xfrm>
        </p:spPr>
        <p:txBody>
          <a:bodyPr anchor="b"/>
          <a:lstStyle>
            <a:lvl1pPr algn="ctr"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9989" y="16072427"/>
            <a:ext cx="31859935" cy="7388071"/>
          </a:xfrm>
        </p:spPr>
        <p:txBody>
          <a:bodyPr/>
          <a:lstStyle>
            <a:lvl1pPr marL="0" indent="0" algn="ctr">
              <a:buNone/>
              <a:defRPr sz="10709"/>
            </a:lvl1pPr>
            <a:lvl2pPr marL="2040026" indent="0" algn="ctr">
              <a:buNone/>
              <a:defRPr sz="8924"/>
            </a:lvl2pPr>
            <a:lvl3pPr marL="4080053" indent="0" algn="ctr">
              <a:buNone/>
              <a:defRPr sz="8032"/>
            </a:lvl3pPr>
            <a:lvl4pPr marL="6120079" indent="0" algn="ctr">
              <a:buNone/>
              <a:defRPr sz="7139"/>
            </a:lvl4pPr>
            <a:lvl5pPr marL="8160106" indent="0" algn="ctr">
              <a:buNone/>
              <a:defRPr sz="7139"/>
            </a:lvl5pPr>
            <a:lvl6pPr marL="10200132" indent="0" algn="ctr">
              <a:buNone/>
              <a:defRPr sz="7139"/>
            </a:lvl6pPr>
            <a:lvl7pPr marL="12240158" indent="0" algn="ctr">
              <a:buNone/>
              <a:defRPr sz="7139"/>
            </a:lvl7pPr>
            <a:lvl8pPr marL="14280185" indent="0" algn="ctr">
              <a:buNone/>
              <a:defRPr sz="7139"/>
            </a:lvl8pPr>
            <a:lvl9pPr marL="16320211" indent="0" algn="ctr">
              <a:buNone/>
              <a:defRPr sz="713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51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54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371" y="7628921"/>
            <a:ext cx="36638925" cy="12729018"/>
          </a:xfrm>
        </p:spPr>
        <p:txBody>
          <a:bodyPr anchor="b"/>
          <a:lstStyle>
            <a:lvl1pPr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8371" y="20478361"/>
            <a:ext cx="36638925" cy="6693890"/>
          </a:xfrm>
        </p:spPr>
        <p:txBody>
          <a:bodyPr/>
          <a:lstStyle>
            <a:lvl1pPr marL="0" indent="0">
              <a:buNone/>
              <a:defRPr sz="10709">
                <a:solidFill>
                  <a:schemeClr val="tx1"/>
                </a:solidFill>
              </a:defRPr>
            </a:lvl1pPr>
            <a:lvl2pPr marL="2040026" indent="0">
              <a:buNone/>
              <a:defRPr sz="8924">
                <a:solidFill>
                  <a:schemeClr val="tx1">
                    <a:tint val="75000"/>
                  </a:schemeClr>
                </a:solidFill>
              </a:defRPr>
            </a:lvl2pPr>
            <a:lvl3pPr marL="4080053" indent="0">
              <a:buNone/>
              <a:defRPr sz="8032">
                <a:solidFill>
                  <a:schemeClr val="tx1">
                    <a:tint val="75000"/>
                  </a:schemeClr>
                </a:solidFill>
              </a:defRPr>
            </a:lvl3pPr>
            <a:lvl4pPr marL="6120079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4pPr>
            <a:lvl5pPr marL="8160106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5pPr>
            <a:lvl6pPr marL="10200132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6pPr>
            <a:lvl7pPr marL="12240158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7pPr>
            <a:lvl8pPr marL="14280185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8pPr>
            <a:lvl9pPr marL="16320211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0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0494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05456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8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1629208"/>
            <a:ext cx="36638925" cy="591471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31" y="7501412"/>
            <a:ext cx="17970992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31" y="11177737"/>
            <a:ext cx="17970992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05458" y="7501412"/>
            <a:ext cx="18059496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05458" y="11177737"/>
            <a:ext cx="18059496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2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6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9496" y="4405934"/>
            <a:ext cx="21505456" cy="21746295"/>
          </a:xfrm>
        </p:spPr>
        <p:txBody>
          <a:bodyPr/>
          <a:lstStyle>
            <a:lvl1pPr>
              <a:defRPr sz="14278"/>
            </a:lvl1pPr>
            <a:lvl2pPr>
              <a:defRPr sz="12494"/>
            </a:lvl2pPr>
            <a:lvl3pPr>
              <a:defRPr sz="10709"/>
            </a:lvl3pPr>
            <a:lvl4pPr>
              <a:defRPr sz="8924"/>
            </a:lvl4pPr>
            <a:lvl5pPr>
              <a:defRPr sz="8924"/>
            </a:lvl5pPr>
            <a:lvl6pPr>
              <a:defRPr sz="8924"/>
            </a:lvl6pPr>
            <a:lvl7pPr>
              <a:defRPr sz="8924"/>
            </a:lvl7pPr>
            <a:lvl8pPr>
              <a:defRPr sz="8924"/>
            </a:lvl8pPr>
            <a:lvl9pPr>
              <a:defRPr sz="892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059496" y="4405934"/>
            <a:ext cx="21505456" cy="21746295"/>
          </a:xfrm>
        </p:spPr>
        <p:txBody>
          <a:bodyPr anchor="t"/>
          <a:lstStyle>
            <a:lvl1pPr marL="0" indent="0">
              <a:buNone/>
              <a:defRPr sz="14278"/>
            </a:lvl1pPr>
            <a:lvl2pPr marL="2040026" indent="0">
              <a:buNone/>
              <a:defRPr sz="12494"/>
            </a:lvl2pPr>
            <a:lvl3pPr marL="4080053" indent="0">
              <a:buNone/>
              <a:defRPr sz="10709"/>
            </a:lvl3pPr>
            <a:lvl4pPr marL="6120079" indent="0">
              <a:buNone/>
              <a:defRPr sz="8924"/>
            </a:lvl4pPr>
            <a:lvl5pPr marL="8160106" indent="0">
              <a:buNone/>
              <a:defRPr sz="8924"/>
            </a:lvl5pPr>
            <a:lvl6pPr marL="10200132" indent="0">
              <a:buNone/>
              <a:defRPr sz="8924"/>
            </a:lvl6pPr>
            <a:lvl7pPr marL="12240158" indent="0">
              <a:buNone/>
              <a:defRPr sz="8924"/>
            </a:lvl7pPr>
            <a:lvl8pPr marL="14280185" indent="0">
              <a:buNone/>
              <a:defRPr sz="8924"/>
            </a:lvl8pPr>
            <a:lvl9pPr marL="16320211" indent="0">
              <a:buNone/>
              <a:defRPr sz="892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3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662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399690" y="1629201"/>
            <a:ext cx="9159731" cy="2593263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0496" y="1629201"/>
            <a:ext cx="26948195" cy="2593263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4" y="1629208"/>
            <a:ext cx="36638925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4" y="8146007"/>
            <a:ext cx="36638925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4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1" y="28362276"/>
            <a:ext cx="14336971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39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0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80053" rtl="1" eaLnBrk="1" latinLnBrk="0" hangingPunct="1">
        <a:lnSpc>
          <a:spcPct val="90000"/>
        </a:lnSpc>
        <a:spcBef>
          <a:spcPct val="0"/>
        </a:spcBef>
        <a:buNone/>
        <a:defRPr sz="19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013" indent="-1020013" algn="r" defTabSz="4080053" rtl="1" eaLnBrk="1" latinLnBrk="0" hangingPunct="1">
        <a:lnSpc>
          <a:spcPct val="90000"/>
        </a:lnSpc>
        <a:spcBef>
          <a:spcPts val="4462"/>
        </a:spcBef>
        <a:buFont typeface="Arial" panose="020B0604020202020204" pitchFamily="34" charset="0"/>
        <a:buChar char="•"/>
        <a:defRPr sz="12494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0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10709" kern="1200">
          <a:solidFill>
            <a:schemeClr val="tx1"/>
          </a:solidFill>
          <a:latin typeface="+mn-lt"/>
          <a:ea typeface="+mn-ea"/>
          <a:cs typeface="+mn-cs"/>
        </a:defRPr>
      </a:lvl2pPr>
      <a:lvl3pPr marL="5100066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924" kern="1200">
          <a:solidFill>
            <a:schemeClr val="tx1"/>
          </a:solidFill>
          <a:latin typeface="+mn-lt"/>
          <a:ea typeface="+mn-ea"/>
          <a:cs typeface="+mn-cs"/>
        </a:defRPr>
      </a:lvl3pPr>
      <a:lvl4pPr marL="714009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9180119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1220145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326017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5300198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7340224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1pPr>
      <a:lvl2pPr marL="204002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2pPr>
      <a:lvl3pPr marL="4080053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3pPr>
      <a:lvl4pPr marL="6120079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816010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0200132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2240158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4280185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6320211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3B3CADCC-F50E-5A7E-A806-93989357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"/>
            <a:ext cx="42479913" cy="30596710"/>
          </a:xfrm>
          <a:prstGeom prst="rect">
            <a:avLst/>
          </a:prstGeom>
        </p:spPr>
      </p:pic>
      <p:sp>
        <p:nvSpPr>
          <p:cNvPr id="4" name="project_name"/>
          <p:cNvSpPr txBox="1"/>
          <p:nvPr/>
        </p:nvSpPr>
        <p:spPr>
          <a:xfrm>
            <a:off x="3048000" y="3645486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6600" b="1" dirty="0">
                <a:solidFill>
                  <a:srgbClr val="14967D"/>
                </a:solidFill>
              </a:rPr>
              <a:t>SitePulse AI</a:t>
            </a:r>
            <a:r>
              <a:rPr lang="he-IL" sz="6600" b="1" dirty="0">
                <a:solidFill>
                  <a:srgbClr val="14967D"/>
                </a:solidFill>
              </a:rPr>
              <a:t> </a:t>
            </a:r>
            <a:br>
              <a:rPr lang="en-US" sz="6600" b="1" dirty="0">
                <a:solidFill>
                  <a:srgbClr val="14967D"/>
                </a:solidFill>
              </a:rPr>
            </a:br>
            <a:r>
              <a:rPr lang="he-IL" sz="6600" b="1" dirty="0">
                <a:solidFill>
                  <a:srgbClr val="14967D"/>
                </a:solidFill>
              </a:rPr>
              <a:t>Web Health &amp; SEO Crawler with AI Assistant</a:t>
            </a:r>
            <a:r>
              <a:rPr lang="en-US" sz="6600" b="1" dirty="0">
                <a:solidFill>
                  <a:srgbClr val="14967D"/>
                </a:solidFill>
              </a:rPr>
              <a:t> </a:t>
            </a:r>
            <a:endParaRPr lang="he-IL" sz="6600" b="1" dirty="0">
              <a:solidFill>
                <a:srgbClr val="14967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574669" y="483475"/>
            <a:ext cx="16208624" cy="2123658"/>
          </a:xfrm>
          <a:prstGeom prst="rect">
            <a:avLst/>
          </a:prstGeom>
          <a:noFill/>
        </p:spPr>
        <p:txBody>
          <a:bodyPr wrap="square" rtlCol="1" anchor="ctr" anchorCtr="0">
            <a:spAutoFit/>
          </a:bodyPr>
          <a:lstStyle/>
          <a:p>
            <a:pPr algn="l" rtl="0"/>
            <a:r>
              <a:rPr lang="en-US" sz="2800" b="1">
                <a:solidFill>
                  <a:srgbClr val="FFFFFF"/>
                </a:solidFill>
                <a:latin typeface="Arial"/>
              </a:rPr>
              <a:t>Students: Kamil Sason, Dan Swirsky</a:t>
            </a:r>
            <a:endParaRPr lang="he-IL" sz="4400" b="1" dirty="0">
              <a:solidFill>
                <a:schemeClr val="bg1"/>
              </a:solidFill>
            </a:endParaRPr>
          </a:p>
          <a:p>
            <a:pPr algn="l" rtl="0"/>
            <a:r>
              <a:rPr lang="en-US" sz="2800" b="1">
                <a:solidFill>
                  <a:srgbClr val="FFFFFF"/>
                </a:solidFill>
                <a:latin typeface="Arial"/>
              </a:rPr>
              <a:t>Advisor: (to be filled)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5457" y="912516"/>
            <a:ext cx="1067099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8400" b="1" dirty="0">
                <a:solidFill>
                  <a:schemeClr val="bg1"/>
                </a:solidFill>
              </a:rPr>
              <a:t>| Computer Science</a:t>
            </a:r>
            <a:endParaRPr lang="he-IL" sz="8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7354787" y="27205763"/>
            <a:ext cx="1225207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0" eaLnBrk="1" hangingPunct="1"/>
            <a:r>
              <a:rPr lang="en-US" sz="2000" b="1">
                <a:solidFill>
                  <a:srgbClr val="FFFFFF"/>
                </a:solidFill>
                <a:latin typeface="Arial"/>
              </a:rPr>
              <a:t>Final BSc Project   ·   Computer Science   ·   Afeka College of Engineering   ·   June 2026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6927D4A-435A-2492-9A35-134368585E70}"/>
              </a:ext>
            </a:extLst>
          </p:cNvPr>
          <p:cNvSpPr/>
          <p:nvPr/>
        </p:nvSpPr>
        <p:spPr>
          <a:xfrm>
            <a:off x="2621972" y="6071261"/>
            <a:ext cx="18144478" cy="11569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73A15BB-0A7D-B524-1C41-8264AC79ECDA}"/>
              </a:ext>
            </a:extLst>
          </p:cNvPr>
          <p:cNvSpPr/>
          <p:nvPr/>
        </p:nvSpPr>
        <p:spPr>
          <a:xfrm>
            <a:off x="21588900" y="16482986"/>
            <a:ext cx="18144478" cy="10492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1" eaLnBrk="1" latinLnBrk="0" hangingPunct="1"/>
            <a:endParaRPr lang="he-IL" dirty="0"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76687B07-F429-49C3-B166-474DA8751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3534756"/>
            <a:ext cx="531533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3. Architecture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AC7864FE-02EF-4DD2-A8E4-EDB9F8EE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16827081"/>
            <a:ext cx="7220338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4. Engineering challenge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4EB9C99F-BB9B-4935-8FB9-6A1DAEFAB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6468268"/>
            <a:ext cx="65578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he-IL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63F4EE00-8DED-4E07-841A-E42E45DE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2" y="18057710"/>
            <a:ext cx="45385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 Solution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00400" y="7589520"/>
            <a:ext cx="16916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600" b="1">
                <a:solidFill>
                  <a:srgbClr val="14967D"/>
                </a:solidFill>
                <a:latin typeface="Arial"/>
              </a:rPr>
              <a:t>Every small-business website is silently losing money.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8778240"/>
            <a:ext cx="1691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0" y="8778240"/>
            <a:ext cx="274320" cy="2377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749039" y="9281160"/>
            <a:ext cx="1371600" cy="137160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49039" y="9281160"/>
            <a:ext cx="13716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7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9052560"/>
            <a:ext cx="143560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200" b="1">
                <a:solidFill>
                  <a:srgbClr val="1F2937"/>
                </a:solidFill>
                <a:latin typeface="Arial"/>
              </a:rPr>
              <a:t>Invisible technical problems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9875520"/>
            <a:ext cx="1435608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Broken links, slow pages and missing tags quietly damage user experience and search rankings — and most site owners never know.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0" y="11430000"/>
            <a:ext cx="1691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00400" y="11430000"/>
            <a:ext cx="274320" cy="23774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3749039" y="11932920"/>
            <a:ext cx="1371600" cy="13716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49039" y="11932920"/>
            <a:ext cx="13716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7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0" y="11704320"/>
            <a:ext cx="143560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200" b="1">
                <a:solidFill>
                  <a:srgbClr val="1F2937"/>
                </a:solidFill>
                <a:latin typeface="Arial"/>
              </a:rPr>
              <a:t>Reports written for engineers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12527280"/>
            <a:ext cx="1435608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Existing tools dump raw error codes and technical jargon, leaving non-technical owners unable to act on what they find.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0" y="14081760"/>
            <a:ext cx="1691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0" y="14081760"/>
            <a:ext cx="274320" cy="2377440"/>
          </a:xfrm>
          <a:prstGeom prst="rect">
            <a:avLst/>
          </a:prstGeom>
          <a:solidFill>
            <a:srgbClr val="4A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749039" y="14584680"/>
            <a:ext cx="1371600" cy="1371600"/>
          </a:xfrm>
          <a:prstGeom prst="ellipse">
            <a:avLst/>
          </a:prstGeom>
          <a:solidFill>
            <a:srgbClr val="4A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749039" y="14584680"/>
            <a:ext cx="13716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72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0" y="14356080"/>
            <a:ext cx="143560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200" b="1">
                <a:solidFill>
                  <a:srgbClr val="1F2937"/>
                </a:solidFill>
                <a:latin typeface="Arial"/>
              </a:rPr>
              <a:t>No memory, no learning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15179040"/>
            <a:ext cx="1435608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Each scan stands alone. Nobody can see WHY a problem appeared or WHETHER the last fix actually worked.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00400" y="16824960"/>
            <a:ext cx="16916400" cy="914400"/>
          </a:xfrm>
          <a:prstGeom prst="roundRect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00400" y="16824960"/>
            <a:ext cx="169164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2400" b="1">
                <a:solidFill>
                  <a:srgbClr val="FFFFFF"/>
                </a:solidFill>
                <a:latin typeface="Arial"/>
              </a:rPr>
              <a:t>SitePulse AI bridges the gap: scan  →  classify  →  explain  →  fix.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0" y="18928080"/>
            <a:ext cx="16916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600" b="1">
                <a:solidFill>
                  <a:srgbClr val="14967D"/>
                </a:solidFill>
                <a:latin typeface="Arial"/>
              </a:rPr>
              <a:t>A five-stage pipeline: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400" y="20208239"/>
            <a:ext cx="312724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200400" y="20208239"/>
            <a:ext cx="3127248" cy="320040"/>
          </a:xfrm>
          <a:prstGeom prst="rect">
            <a:avLst/>
          </a:prstGeom>
          <a:solidFill>
            <a:srgbClr val="4A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200400" y="20665439"/>
            <a:ext cx="312724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000" b="1">
                <a:solidFill>
                  <a:srgbClr val="4A5BD8"/>
                </a:solidFill>
                <a:latin typeface="Arial"/>
              </a:rPr>
              <a:t>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0" y="21214080"/>
            <a:ext cx="3127248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3800" b="1">
                <a:solidFill>
                  <a:srgbClr val="1F2937"/>
                </a:solidFill>
                <a:latin typeface="Arial"/>
              </a:rPr>
              <a:t>CRAWL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91840" y="22219919"/>
            <a:ext cx="2944368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200" b="1">
                <a:solidFill>
                  <a:srgbClr val="4A5BD8"/>
                </a:solidFill>
                <a:latin typeface="Arial"/>
              </a:rPr>
              <a:t>Concurrent BFS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37560" y="22859999"/>
            <a:ext cx="2852928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1800" b="0">
                <a:solidFill>
                  <a:srgbClr val="555E77"/>
                </a:solidFill>
                <a:latin typeface="Arial"/>
              </a:rPr>
              <a:t>Fast and respectful crawl of every internal page.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6355080" y="21762719"/>
            <a:ext cx="265176" cy="457200"/>
          </a:xfrm>
          <a:prstGeom prst="rightArrow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647688" y="20208239"/>
            <a:ext cx="312724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647688" y="20208239"/>
            <a:ext cx="3127248" cy="32004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647688" y="20665439"/>
            <a:ext cx="312724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000" b="1">
                <a:solidFill>
                  <a:srgbClr val="6C4AB6"/>
                </a:solidFill>
                <a:latin typeface="Arial"/>
              </a:rPr>
              <a:t>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47688" y="21214080"/>
            <a:ext cx="3127248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3800" b="1">
                <a:solidFill>
                  <a:srgbClr val="1F2937"/>
                </a:solidFill>
                <a:latin typeface="Arial"/>
              </a:rPr>
              <a:t>ANALYZE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39128" y="22219919"/>
            <a:ext cx="2944368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200" b="1">
                <a:solidFill>
                  <a:srgbClr val="6C4AB6"/>
                </a:solidFill>
                <a:latin typeface="Arial"/>
              </a:rPr>
              <a:t>Rule-based checks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84848" y="22859999"/>
            <a:ext cx="2852928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1800" b="0">
                <a:solidFill>
                  <a:srgbClr val="555E77"/>
                </a:solidFill>
                <a:latin typeface="Arial"/>
              </a:rPr>
              <a:t>Deterministic detection across multiple categories.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9802368" y="21762719"/>
            <a:ext cx="265176" cy="457200"/>
          </a:xfrm>
          <a:prstGeom prst="rightArrow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10094976" y="20208239"/>
            <a:ext cx="312724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094976" y="20208239"/>
            <a:ext cx="3127248" cy="320040"/>
          </a:xfrm>
          <a:prstGeom prst="rect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94976" y="20665439"/>
            <a:ext cx="312724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000" b="1">
                <a:solidFill>
                  <a:srgbClr val="14967D"/>
                </a:solidFill>
                <a:latin typeface="Arial"/>
              </a:rPr>
              <a:t>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94976" y="21214080"/>
            <a:ext cx="3127248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3800" b="1">
                <a:solidFill>
                  <a:srgbClr val="1F2937"/>
                </a:solidFill>
                <a:latin typeface="Arial"/>
              </a:rPr>
              <a:t>EXPLAIN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86416" y="22219919"/>
            <a:ext cx="2944368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200" b="1">
                <a:solidFill>
                  <a:srgbClr val="14967D"/>
                </a:solidFill>
                <a:latin typeface="Arial"/>
              </a:rPr>
              <a:t>AI in plain language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32136" y="22859999"/>
            <a:ext cx="2852928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1800" b="0">
                <a:solidFill>
                  <a:srgbClr val="555E77"/>
                </a:solidFill>
                <a:latin typeface="Arial"/>
              </a:rPr>
              <a:t>Every issue translated into clear guidance.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13249656" y="21762719"/>
            <a:ext cx="265176" cy="457200"/>
          </a:xfrm>
          <a:prstGeom prst="rightArrow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3542264" y="20208239"/>
            <a:ext cx="312724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3542264" y="20208239"/>
            <a:ext cx="3127248" cy="3200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3542264" y="20665439"/>
            <a:ext cx="312724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000" b="1">
                <a:solidFill>
                  <a:srgbClr val="C99A2E"/>
                </a:solidFill>
                <a:latin typeface="Arial"/>
              </a:rPr>
              <a:t>04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542264" y="21214080"/>
            <a:ext cx="3127248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3800" b="1">
                <a:solidFill>
                  <a:srgbClr val="1F2937"/>
                </a:solidFill>
                <a:latin typeface="Arial"/>
              </a:rPr>
              <a:t>AUTO-FIX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633704" y="22219919"/>
            <a:ext cx="2944368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200" b="1">
                <a:solidFill>
                  <a:srgbClr val="C99A2E"/>
                </a:solidFill>
                <a:latin typeface="Arial"/>
              </a:rPr>
              <a:t>AI rewrites HTML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679424" y="22859999"/>
            <a:ext cx="2852928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1800" b="0">
                <a:solidFill>
                  <a:srgbClr val="555E77"/>
                </a:solidFill>
                <a:latin typeface="Arial"/>
              </a:rPr>
              <a:t>One click and the page is patched and ready.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16696944" y="21762719"/>
            <a:ext cx="265176" cy="457200"/>
          </a:xfrm>
          <a:prstGeom prst="rightArrow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16989552" y="20208239"/>
            <a:ext cx="312724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6989552" y="20208239"/>
            <a:ext cx="3127248" cy="3200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6989552" y="20665439"/>
            <a:ext cx="312724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000" b="1">
                <a:solidFill>
                  <a:srgbClr val="F39C12"/>
                </a:solidFill>
                <a:latin typeface="Arial"/>
              </a:rPr>
              <a:t>05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989552" y="21214080"/>
            <a:ext cx="3127248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3800" b="1">
                <a:solidFill>
                  <a:srgbClr val="1F2937"/>
                </a:solidFill>
                <a:latin typeface="Arial"/>
              </a:rPr>
              <a:t>TRACK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080992" y="22219919"/>
            <a:ext cx="2944368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2200" b="1">
                <a:solidFill>
                  <a:srgbClr val="F39C12"/>
                </a:solidFill>
                <a:latin typeface="Arial"/>
              </a:rPr>
              <a:t>Persistent history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126712" y="22859999"/>
            <a:ext cx="2852928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0"/>
            <a:r>
              <a:rPr lang="en-US" sz="1800" b="0">
                <a:solidFill>
                  <a:srgbClr val="555E77"/>
                </a:solidFill>
                <a:latin typeface="Arial"/>
              </a:rPr>
              <a:t>Diff any two scans and export full reports.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311360" y="4572000"/>
            <a:ext cx="16916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200" b="1">
                <a:solidFill>
                  <a:srgbClr val="14967D"/>
                </a:solidFill>
                <a:latin typeface="Arial"/>
              </a:rPr>
              <a:t>Six Python packages, one responsibility each: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2311360" y="576072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2311360" y="5760720"/>
            <a:ext cx="274320" cy="2377440"/>
          </a:xfrm>
          <a:prstGeom prst="rect">
            <a:avLst/>
          </a:prstGeom>
          <a:solidFill>
            <a:srgbClr val="4A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2951439" y="603504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4A5BD8"/>
                </a:solidFill>
                <a:latin typeface="Consolas"/>
              </a:rPr>
              <a:t>crawler/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951439" y="694944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Fast, concurrent site crawler that respects every site's rules.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0998160" y="576072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0998160" y="5760720"/>
            <a:ext cx="274320" cy="237744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1638240" y="603504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6C4AB6"/>
                </a:solidFill>
                <a:latin typeface="Consolas"/>
              </a:rPr>
              <a:t>analyzer/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1638240" y="694944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Rule-based detection engines, one per audit category.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2311360" y="859536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22311360" y="8595360"/>
            <a:ext cx="274320" cy="2377440"/>
          </a:xfrm>
          <a:prstGeom prst="rect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2951439" y="886968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14967D"/>
                </a:solidFill>
                <a:latin typeface="Consolas"/>
              </a:rPr>
              <a:t>ai/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951439" y="978408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AI assistant that explains every issue and proposes fixes.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0998160" y="859536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30998160" y="8595360"/>
            <a:ext cx="274320" cy="23774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1638240" y="886968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F39C12"/>
                </a:solidFill>
                <a:latin typeface="Consolas"/>
              </a:rPr>
              <a:t>database/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638240" y="978408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Persistent scan history with diff and trend analysis.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2311360" y="1143000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22311360" y="11430000"/>
            <a:ext cx="274320" cy="2377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2951439" y="1170432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E74C3C"/>
                </a:solidFill>
                <a:latin typeface="Consolas"/>
              </a:rPr>
              <a:t>reports/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2951439" y="1261872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Exports findings to CSV and a polished printable PDF.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0998160" y="11430000"/>
            <a:ext cx="8229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0998160" y="11430000"/>
            <a:ext cx="274320" cy="2377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1638240" y="11704320"/>
            <a:ext cx="74066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800" b="1">
                <a:solidFill>
                  <a:srgbClr val="028090"/>
                </a:solidFill>
                <a:latin typeface="Consolas"/>
              </a:rPr>
              <a:t>models/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638240" y="12618720"/>
            <a:ext cx="74066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400" b="0">
                <a:solidFill>
                  <a:srgbClr val="555E77"/>
                </a:solidFill>
                <a:latin typeface="Arial"/>
              </a:rPr>
              <a:t>Shared data structures used across every module.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2311360" y="14264640"/>
            <a:ext cx="16916400" cy="1097280"/>
          </a:xfrm>
          <a:prstGeom prst="roundRect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2311360" y="14264640"/>
            <a:ext cx="16916400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2200" b="1">
                <a:solidFill>
                  <a:srgbClr val="FFFFFF"/>
                </a:solidFill>
                <a:latin typeface="Arial"/>
              </a:rPr>
              <a:t>UI: Streamlit multi-page app — live scan, AI panel, scan history, trend charts.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2311360" y="18013680"/>
            <a:ext cx="16916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200" b="1">
                <a:solidFill>
                  <a:srgbClr val="14967D"/>
                </a:solidFill>
                <a:latin typeface="Arial"/>
              </a:rPr>
              <a:t>What made this non-trivial: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2311360" y="19202400"/>
            <a:ext cx="822960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22768560" y="19659600"/>
            <a:ext cx="1645920" cy="1645920"/>
          </a:xfrm>
          <a:prstGeom prst="ellipse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2768560" y="19659600"/>
            <a:ext cx="1645920" cy="1645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5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688800" y="19842480"/>
            <a:ext cx="5669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000" b="1">
                <a:solidFill>
                  <a:srgbClr val="1F2937"/>
                </a:solidFill>
                <a:latin typeface="Arial"/>
              </a:rPr>
              <a:t>Crawling without becoming a bot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768560" y="21488400"/>
            <a:ext cx="7315200" cy="12801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600" b="0" dirty="0">
                <a:solidFill>
                  <a:srgbClr val="555E77"/>
                </a:solidFill>
                <a:latin typeface="Arial"/>
              </a:rPr>
              <a:t>Real sites block aggressive crawlers. We balance speed with </a:t>
            </a:r>
            <a:r>
              <a:rPr lang="en-US" sz="2600" dirty="0">
                <a:solidFill>
                  <a:srgbClr val="555E77"/>
                </a:solidFill>
                <a:latin typeface="Arial"/>
              </a:rPr>
              <a:t>politeness, and </a:t>
            </a:r>
            <a:r>
              <a:rPr lang="en-US" sz="2600" b="0" dirty="0">
                <a:solidFill>
                  <a:srgbClr val="555E77"/>
                </a:solidFill>
                <a:latin typeface="Arial"/>
              </a:rPr>
              <a:t>avoid visiting the same page twice through different links.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0998160" y="19202400"/>
            <a:ext cx="822960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31455360" y="19659600"/>
            <a:ext cx="1645920" cy="1645920"/>
          </a:xfrm>
          <a:prstGeom prst="ellipse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1455360" y="19659600"/>
            <a:ext cx="1645920" cy="1645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5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375600" y="19842480"/>
            <a:ext cx="5669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000" b="1">
                <a:solidFill>
                  <a:srgbClr val="1F2937"/>
                </a:solidFill>
                <a:latin typeface="Arial"/>
              </a:rPr>
              <a:t>AI that never invents a problem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1455360" y="21488400"/>
            <a:ext cx="7315200" cy="12801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600" b="0">
                <a:solidFill>
                  <a:srgbClr val="555E77"/>
                </a:solidFill>
                <a:latin typeface="Arial"/>
              </a:rPr>
              <a:t>LLMs hallucinate when they decide what is broken. Our rules make every decision; the AI only explains. Predictable plus natural to read.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2311360" y="23408640"/>
            <a:ext cx="822960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22768560" y="23865840"/>
            <a:ext cx="1645920" cy="1645920"/>
          </a:xfrm>
          <a:prstGeom prst="ellipse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2768560" y="23865840"/>
            <a:ext cx="1645920" cy="1645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5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4688800" y="24048720"/>
            <a:ext cx="5669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000" b="1">
                <a:solidFill>
                  <a:srgbClr val="1F2937"/>
                </a:solidFill>
                <a:latin typeface="Arial"/>
              </a:rPr>
              <a:t>From diagnosis to one-click cure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768560" y="25694640"/>
            <a:ext cx="7315200" cy="12801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600" b="0">
                <a:solidFill>
                  <a:srgbClr val="555E77"/>
                </a:solidFill>
                <a:latin typeface="Arial"/>
              </a:rPr>
              <a:t>Showing a problem is not enough. Auto-Fix takes the broken page, sends the exact issue to the AI, and returns a patched version ready to deploy.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0998160" y="23408640"/>
            <a:ext cx="822960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31455360" y="23865840"/>
            <a:ext cx="1645920" cy="1645920"/>
          </a:xfrm>
          <a:prstGeom prst="ellipse">
            <a:avLst/>
          </a:prstGeom>
          <a:solidFill>
            <a:srgbClr val="14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1455360" y="23865840"/>
            <a:ext cx="1645920" cy="1645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 rtl="0"/>
            <a:r>
              <a:rPr lang="en-US" sz="5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375600" y="24048720"/>
            <a:ext cx="5669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3000" b="1">
                <a:solidFill>
                  <a:srgbClr val="1F2937"/>
                </a:solidFill>
                <a:latin typeface="Arial"/>
              </a:rPr>
              <a:t>A score the user can defend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455360" y="25694640"/>
            <a:ext cx="7315200" cy="12801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0"/>
            <a:r>
              <a:rPr lang="en-US" sz="2600" b="0">
                <a:solidFill>
                  <a:srgbClr val="555E77"/>
                </a:solidFill>
                <a:latin typeface="Arial"/>
              </a:rPr>
              <a:t>We chose a transparent formula over a black-box ML model. Every point on the dashboard maps to a specific issue the user can explain and act on.</a:t>
            </a:r>
          </a:p>
        </p:txBody>
      </p:sp>
    </p:spTree>
    <p:extLst>
      <p:ext uri="{BB962C8B-B14F-4D97-AF65-F5344CB8AC3E}">
        <p14:creationId xmlns:p14="http://schemas.microsoft.com/office/powerpoint/2010/main" val="312485315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b37368-257b-4467-96dd-af1b91bef81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1BC521E164344898D0297273D2D99" ma:contentTypeVersion="13" ma:contentTypeDescription="Create a new document." ma:contentTypeScope="" ma:versionID="9032c977c4d704ad7da0a0a7e4a06190">
  <xsd:schema xmlns:xsd="http://www.w3.org/2001/XMLSchema" xmlns:xs="http://www.w3.org/2001/XMLSchema" xmlns:p="http://schemas.microsoft.com/office/2006/metadata/properties" xmlns:ns2="f2b37368-257b-4467-96dd-af1b91bef81d" targetNamespace="http://schemas.microsoft.com/office/2006/metadata/properties" ma:root="true" ma:fieldsID="79dae769cbb9243106955dfaa8c1cb90" ns2:_="">
    <xsd:import namespace="f2b37368-257b-4467-96dd-af1b91bef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37368-257b-4467-96dd-af1b91bef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3233a5-b502-48c3-b4b5-6955fd0d7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7DB085-B774-45C0-812F-A1B0CE358EE2}">
  <ds:schemaRefs>
    <ds:schemaRef ds:uri="http://schemas.microsoft.com/office/2006/metadata/properties"/>
    <ds:schemaRef ds:uri="http://schemas.microsoft.com/office/infopath/2007/PartnerControls"/>
    <ds:schemaRef ds:uri="f2b37368-257b-4467-96dd-af1b91bef81d"/>
    <ds:schemaRef ds:uri="130b172b-0165-47b2-9d3d-463a709cde28"/>
    <ds:schemaRef ds:uri="6bf87488-ba5c-4267-8b30-81d843126eb2"/>
  </ds:schemaRefs>
</ds:datastoreItem>
</file>

<file path=customXml/itemProps2.xml><?xml version="1.0" encoding="utf-8"?>
<ds:datastoreItem xmlns:ds="http://schemas.openxmlformats.org/officeDocument/2006/customXml" ds:itemID="{A95B88EF-4006-4D4E-9747-59AA7B83AD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1538BC-16AD-4AA9-97F8-0E6B198CE2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b37368-257b-4467-96dd-af1b91bef8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15280</TotalTime>
  <Words>460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ניר אלנברג</dc:creator>
  <cp:lastModifiedBy>Dan Swirsky</cp:lastModifiedBy>
  <cp:revision>92</cp:revision>
  <cp:lastPrinted>2023-03-02T10:32:15Z</cp:lastPrinted>
  <dcterms:created xsi:type="dcterms:W3CDTF">2017-02-20T11:23:11Z</dcterms:created>
  <dcterms:modified xsi:type="dcterms:W3CDTF">2026-06-05T13:22:03Z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0x01010033D1BC521E164344898D0297273D2D99</vt:lpwstr>
  </property>
  <property fmtid="{D5CDD505-2E9C-101B-9397-08002B2CF9AE}" pid="3" name="MediaServiceImageTags">
    <vt:lpwstr/>
  </property>
</Properties>
</file>